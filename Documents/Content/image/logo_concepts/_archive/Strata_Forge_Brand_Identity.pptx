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STRATA FORGE — BRAND IDENTITY</a:t>
            </a:r>
          </a:p>
        </p:txBody>
      </p:sp>
      <p:pic>
        <p:nvPicPr>
          <p:cNvPr id="3" name="Picture 2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a:spc="600">
                <a:solidFill>
                  <a:srgbClr val="E8E0D0"/>
                </a:solidFill>
                <a:latin typeface="Cinzel"/>
              </a:defRPr>
            </a:pPr>
            <a:r>
              <a:t>STRATA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a:spc="800">
                <a:solidFill>
                  <a:srgbClr val="E87830"/>
                </a:solidFill>
                <a:latin typeface="Cinzel"/>
              </a:defRPr>
            </a:pPr>
            <a:r>
              <a:t>—  FORGE 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58952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Calibri"/>
              </a:defRPr>
            </a:pPr>
            <a:r>
              <a:t>2026  ·  GAME STUDIO  ·  BRAND IDENTITY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HORIZONTAL LAYOUT</a:t>
            </a:r>
          </a:p>
        </p:txBody>
      </p:sp>
      <p:pic>
        <p:nvPicPr>
          <p:cNvPr id="3" name="Picture 2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6032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a:spc="500">
                <a:solidFill>
                  <a:srgbClr val="E8E0D0"/>
                </a:solidFill>
                <a:latin typeface="Cinzel"/>
              </a:defRPr>
            </a:pPr>
            <a:r>
              <a:t>STRATA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37490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a:spc="700">
                <a:solidFill>
                  <a:srgbClr val="E87830"/>
                </a:solidFill>
                <a:latin typeface="Cinzel"/>
              </a:defRPr>
            </a:pPr>
            <a:r>
              <a:t>—  FORGE 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BACKGROUND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926080" cy="5943600"/>
          </a:xfrm>
          <a:prstGeom prst="rect">
            <a:avLst/>
          </a:prstGeom>
          <a:solidFill>
            <a:srgbClr val="0A0A12"/>
          </a:solidFill>
          <a:ln w="1270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031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a:spc="400">
                <a:solidFill>
                  <a:srgbClr val="E8E0D0"/>
                </a:solidFill>
                <a:latin typeface="Cinzel"/>
              </a:defRPr>
            </a:pPr>
            <a:r>
              <a:t>STRATA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a:spc="600">
                <a:solidFill>
                  <a:srgbClr val="E87830"/>
                </a:solidFill>
                <a:latin typeface="Cinzel"/>
              </a:defRPr>
            </a:pPr>
            <a:r>
              <a:t>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92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Calibri"/>
              </a:defRPr>
            </a:pPr>
            <a:r>
              <a:t>DARK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2926080" cy="5943600"/>
          </a:xfrm>
          <a:prstGeom prst="rect">
            <a:avLst/>
          </a:prstGeom>
          <a:solidFill>
            <a:srgbClr val="F0EDE6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210312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0624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a:spc="400">
                <a:solidFill>
                  <a:srgbClr val="1A1A1A"/>
                </a:solidFill>
                <a:latin typeface="Cinzel"/>
              </a:defRPr>
            </a:pPr>
            <a:r>
              <a:t>STRATA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a:spc="600">
                <a:solidFill>
                  <a:srgbClr val="C45A2C"/>
                </a:solidFill>
                <a:latin typeface="Cinzel"/>
              </a:defRPr>
            </a:pPr>
            <a:r>
              <a:t>FORGE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6492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371600"/>
            <a:ext cx="2926080" cy="5943600"/>
          </a:xfrm>
          <a:prstGeom prst="rect">
            <a:avLst/>
          </a:prstGeom>
          <a:solidFill>
            <a:srgbClr val="142E2E"/>
          </a:solidFill>
          <a:ln w="1270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19" y="210312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79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a:spc="400">
                <a:solidFill>
                  <a:srgbClr val="E8E0D0"/>
                </a:solidFill>
                <a:latin typeface="Cinzel"/>
              </a:defRPr>
            </a:pPr>
            <a:r>
              <a:t>STRATA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a:spc="600">
                <a:solidFill>
                  <a:srgbClr val="E87830"/>
                </a:solidFill>
                <a:latin typeface="Cinzel"/>
              </a:defRPr>
            </a:pPr>
            <a:r>
              <a:t>FORGE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6492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Calibri"/>
              </a:defRPr>
            </a:pPr>
            <a:r>
              <a:t>TEAL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1371600"/>
            <a:ext cx="2926080" cy="5943600"/>
          </a:xfrm>
          <a:prstGeom prst="rect">
            <a:avLst/>
          </a:prstGeom>
          <a:solidFill>
            <a:srgbClr val="1A1210"/>
          </a:solidFill>
          <a:ln w="12700">
            <a:solidFill>
              <a:srgbClr val="3A2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103120"/>
            <a:ext cx="1371600" cy="137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8992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a:spc="400">
                <a:solidFill>
                  <a:srgbClr val="E8E0D0"/>
                </a:solidFill>
                <a:latin typeface="Cinzel"/>
              </a:defRPr>
            </a:pPr>
            <a:r>
              <a:t>STRATA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a:spc="600">
                <a:solidFill>
                  <a:srgbClr val="E87830"/>
                </a:solidFill>
                <a:latin typeface="Cinzel"/>
              </a:defRPr>
            </a:pPr>
            <a:r>
              <a:t>FORGE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Calibri"/>
              </a:defRPr>
            </a:pPr>
            <a:r>
              <a:t>WARM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ICON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3291840" cy="3291840"/>
          </a:xfrm>
          <a:prstGeom prst="rect">
            <a:avLst/>
          </a:prstGeom>
          <a:solidFill>
            <a:srgbClr val="0A0A12"/>
          </a:solidFill>
          <a:ln w="635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0175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128px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1920240" cy="1920240"/>
          </a:xfrm>
          <a:prstGeom prst="rect">
            <a:avLst/>
          </a:prstGeom>
          <a:solidFill>
            <a:srgbClr val="0A0A12"/>
          </a:solidFill>
          <a:ln w="635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64px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743200"/>
            <a:ext cx="1234440" cy="1234440"/>
          </a:xfrm>
          <a:prstGeom prst="rect">
            <a:avLst/>
          </a:prstGeom>
          <a:solidFill>
            <a:srgbClr val="0A0A12"/>
          </a:solidFill>
          <a:ln w="635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017520"/>
            <a:ext cx="685800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4160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32px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2743200"/>
            <a:ext cx="1097280" cy="1097280"/>
          </a:xfrm>
          <a:prstGeom prst="rect">
            <a:avLst/>
          </a:prstGeom>
          <a:solidFill>
            <a:srgbClr val="0A0A12"/>
          </a:solidFill>
          <a:ln w="635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rata_forg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16px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BRAND PALETTE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286000"/>
            <a:ext cx="1371600" cy="1371600"/>
          </a:xfrm>
          <a:prstGeom prst="ellipse">
            <a:avLst/>
          </a:prstGeom>
          <a:solidFill>
            <a:srgbClr val="2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0D0"/>
                </a:solidFill>
                <a:latin typeface="Cinzel"/>
              </a:defRPr>
            </a:pPr>
            <a:r>
              <a:t>Teal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#2A6B6B</a:t>
            </a:r>
          </a:p>
        </p:txBody>
      </p:sp>
      <p:sp>
        <p:nvSpPr>
          <p:cNvPr id="6" name="Oval 5"/>
          <p:cNvSpPr/>
          <p:nvPr/>
        </p:nvSpPr>
        <p:spPr>
          <a:xfrm>
            <a:off x="4114800" y="2286000"/>
            <a:ext cx="1371600" cy="1371600"/>
          </a:xfrm>
          <a:prstGeom prst="ellipse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0D0"/>
                </a:solidFill>
                <a:latin typeface="Cinzel"/>
              </a:defRPr>
            </a:pPr>
            <a:r>
              <a:t>Forge 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#E87830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2286000"/>
            <a:ext cx="1371600" cy="1371600"/>
          </a:xfrm>
          <a:prstGeom prst="ellipse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0D0"/>
                </a:solidFill>
                <a:latin typeface="Cinzel"/>
              </a:defRPr>
            </a:pPr>
            <a:r>
              <a:t>Incandescent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#FFF5E0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2286000"/>
            <a:ext cx="1371600" cy="1371600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0D0"/>
                </a:solidFill>
                <a:latin typeface="Cinzel"/>
              </a:defRPr>
            </a:pPr>
            <a:r>
              <a:t>Warm White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#E8E0D0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0" y="2286000"/>
            <a:ext cx="1371600" cy="1371600"/>
          </a:xfrm>
          <a:prstGeom prst="ellipse">
            <a:avLst/>
          </a:prstGeom>
          <a:solidFill>
            <a:srgbClr val="0A0A12"/>
          </a:solidFill>
          <a:ln w="12700">
            <a:solidFill>
              <a:srgbClr val="2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0D0"/>
                </a:solidFill>
                <a:latin typeface="Cinzel"/>
              </a:defRPr>
            </a:pPr>
            <a:r>
              <a:t>Abyss 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#0A0A12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Calibri"/>
              </a:defRPr>
            </a:pPr>
            <a:r>
              <a:t>USAGE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3657600" cy="4572000"/>
          </a:xfrm>
          <a:prstGeom prst="rect">
            <a:avLst/>
          </a:prstGeom>
          <a:solidFill>
            <a:srgbClr val="0F1018"/>
          </a:solidFill>
          <a:ln w="6350">
            <a:solidFill>
              <a:srgbClr val="1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a:spc="300">
                <a:solidFill>
                  <a:srgbClr val="3A8A8A"/>
                </a:solidFill>
                <a:latin typeface="Cinzel"/>
              </a:defRPr>
            </a:pPr>
            <a:r>
              <a:t>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STRATA: Cinzel Bold, spacing 0.28em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FORGE: Cinzel Regular, spacing 0.55em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Color: #E8E0D0 / #E87830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828800"/>
            <a:ext cx="3657600" cy="4572000"/>
          </a:xfrm>
          <a:prstGeom prst="rect">
            <a:avLst/>
          </a:prstGeom>
          <a:solidFill>
            <a:srgbClr val="0F1018"/>
          </a:solidFill>
          <a:ln w="6350">
            <a:solidFill>
              <a:srgbClr val="1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59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a:spc="300">
                <a:solidFill>
                  <a:srgbClr val="3A8A8A"/>
                </a:solidFill>
                <a:latin typeface="Cinzel"/>
              </a:defRPr>
            </a:pPr>
            <a:r>
              <a:t>MINIMUM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9" y="29260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Icon only: 16px minimum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Icon + wordmark: 120px width min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Clear space: 1x icon width on all sides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828800"/>
            <a:ext cx="3657600" cy="4572000"/>
          </a:xfrm>
          <a:prstGeom prst="rect">
            <a:avLst/>
          </a:prstGeom>
          <a:solidFill>
            <a:srgbClr val="0F1018"/>
          </a:solidFill>
          <a:ln w="6350">
            <a:solidFill>
              <a:srgbClr val="1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a:spc="300">
                <a:solidFill>
                  <a:srgbClr val="3A8A8A"/>
                </a:solidFill>
                <a:latin typeface="Cinzel"/>
              </a:defRPr>
            </a:pPr>
            <a:r>
              <a:t>DON'TS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9260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No rotation or skewing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No color substitution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No drop shadow on light backgrounds</a:t>
            </a:r>
          </a:p>
          <a:p>
            <a:pPr>
              <a:spcAft>
                <a:spcPts val="600"/>
              </a:spcAft>
              <a:defRPr sz="1300">
                <a:solidFill>
                  <a:srgbClr val="777777"/>
                </a:solidFill>
                <a:latin typeface="Calibri"/>
              </a:defRPr>
            </a:pPr>
            <a:r>
              <a:t>Never on busy/patterned backgrounds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